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94560"/>
                </a:solidFill>
              </a:rPr>
              <a:t>Pellet Burner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A8DADC"/>
                </a:solidFill>
              </a:rPr>
              <a:t>Hardware Components &amp; Wiring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</a:rPr>
              <a:t>ESP32  ·  SH1106 OLED  ·  DS18B20  ·  MAX6675  ·  Relays  ·  TRIAC  ·  Buttons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560"/>
                </a:solidFill>
              </a:rPr>
              <a:t>ESP32 DevKit V1  —  Main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57432" cy="1905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s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804672"/>
            <a:ext cx="310896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749808"/>
            <a:ext cx="5029200" cy="4471415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877824"/>
            <a:ext cx="4700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Key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180337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Dual-core Xtensa LX6 @ 240 MHz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01901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520 KB SRAM  |  4 MB 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23465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802.11 b/g/n WiFi + Bluetooth 4.2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45029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3.3 V logic — NOT 5 V tolerant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466593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30 GPIO pins (several input-only)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788157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ADC, DAC, SPI, I2C, UART, PWM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109721"/>
            <a:ext cx="4700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Role in this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412234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Main controller — FreeRTOS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733798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HTTP web server for settings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055362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Controls relays and TRIAC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376926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Reads DS18B20 and MAX6675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698490"/>
            <a:ext cx="47000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Drives OLED display over I2C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749808"/>
            <a:ext cx="3108960" cy="223951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9552" y="877824"/>
            <a:ext cx="27797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Power Supply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1180337"/>
            <a:ext cx="27797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USB 5V during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1501901"/>
            <a:ext cx="27797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VIN pin: 5–12V regulated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9552" y="1823465"/>
            <a:ext cx="27797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3.3V pin: output — do NOT feed 5V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2145029"/>
            <a:ext cx="27797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Use separate 5V/3A PSU in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2466593"/>
            <a:ext cx="27797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(relay coils draw surge current)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3099054"/>
            <a:ext cx="3108960" cy="401192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9552" y="3227070"/>
            <a:ext cx="2779776" cy="245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8DADC"/>
                </a:solidFill>
              </a:rPr>
              <a:t>GPIO Pin Assignments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9552" y="3472434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GPIO4   DS18B20 OneWire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3736848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GPIO5   MAX6675 SPI 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9552" y="4001262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GPIO18  MAX6675 SPI SCK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2" y="4265676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GPIO19  MAX6675 SPI MISO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9552" y="4530090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GPIO21  OLED SDA (I2C)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9552" y="4794504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GPIO22  OLED SCL (I2C)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5058918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GPIO25  Relay — Feeder motor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9552" y="5323332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GPIO26  Relay — Igniter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5587746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GPIO27  Relay — Water pump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59552" y="5852160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GPIO33  TRIAC gate trigger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59552" y="6116574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GPIO35  Zero-cross detect (input)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59552" y="6380988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GPIO13  Button: On/Off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9552" y="6645402"/>
            <a:ext cx="2779776" cy="26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GPIO14  Button: Emergency stop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560"/>
                </a:solidFill>
              </a:rPr>
              <a:t>SH1106 OLED Display  —  1.3"  128×64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57432" cy="1905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1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804672"/>
            <a:ext cx="3108960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749808"/>
            <a:ext cx="4937760" cy="256108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877824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180337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Driver IC: SH1106  (not SSD1306)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01901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Size: 1.3 inch diagonal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23465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Resolution: 128 × 64 pixels, monochrome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45029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Interface: I2C (default address 0x3C)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466593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Operating voltage: 3.3V – 5V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788157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Library: U8g2 (SH1106 constructor)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749808"/>
            <a:ext cx="3200400" cy="318515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13832" y="877824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Wiring to ESP32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13832" y="1180337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VCC  →  3.3V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3832" y="1501901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GND  →  GND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2" y="1823465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SDA  →  GPIO21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2" y="2145029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SCL  →  GPIO22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2" y="2466593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2" y="2769106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No pull-up resistors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2" y="3090670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(ESP32 internal pull-ups sufficient)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2" y="3412234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I2C address: 0x3C (some boards 0x3D)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62983"/>
            <a:ext cx="8229600" cy="350672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190999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Role in this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493512"/>
            <a:ext cx="79004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At-a-glance live status without phone/browser: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815076"/>
            <a:ext cx="79004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• Water temp (DS18B20) and flame temp (MAX6675)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5136640"/>
            <a:ext cx="79004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• Pump / Feeder / Blower state indicators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5458204"/>
            <a:ext cx="79004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• Current state machine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5779768"/>
            <a:ext cx="79004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• Active operation mode (Standby / Auto / Timer)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6101332"/>
            <a:ext cx="79004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• Error icons (custom bitmap) on fault conditions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6422896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Important: SH1106 ≠ SSD1306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6725409"/>
            <a:ext cx="79004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Many cheap 1.3" modules use SH1106.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7046973"/>
            <a:ext cx="79004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U8g2 constructor: U8G2_SH1106_128X64_NONAME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560"/>
                </a:solidFill>
              </a:rPr>
              <a:t>DS18B20  —  Water Temperature Sensor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57432" cy="1905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s18b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804672"/>
            <a:ext cx="310896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749808"/>
            <a:ext cx="4937760" cy="288264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877824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180337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Protocol: 1-Wire (OneWire)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01901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Range: –55°C to +125°C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23465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Accuracy: ±0.5°C (–10°C to +85°C)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45029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Resolution: 9–12 bit (configurable)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466593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Supply: 3.0V – 5.5V or parasitic (2-wire)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788157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Multiple sensors per bus (unique 64-bit ROM)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109721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Conversion: 94ms (9-bit) to 750ms (12-bit)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749808"/>
            <a:ext cx="3200400" cy="350672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13832" y="877824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Wiring — normal (3-wire)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3832" y="1180337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VCC (red)     →  3.3V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2" y="1501901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GND (black)   →  GND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2" y="1823465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DATA (yellow) →  GPIO4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2" y="2145029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4.7 kΩ pull-up: DATA ↔ 3.3V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2" y="2466593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Wiring — parasitic (2-wire)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2" y="2769106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VCC (red)     →  GND  (tied low)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2" y="3090670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GND (black)   →  GND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2" y="3412234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DATA (yellow) →  GPIO4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2" y="3733798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4.7 kΩ pull-up: DATA ↔ 3.3V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84547"/>
            <a:ext cx="8229600" cy="331622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512563"/>
            <a:ext cx="79004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Role in this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796027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Measures water / boiler temperature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5098540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Used for: pump start/stop hysteresis,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5401053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power level selection (P1/P2/P3),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703566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economy mode logic,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6006079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target temperature control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6308592"/>
            <a:ext cx="79004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Recommendation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6592056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Use waterproof stainless steel probe version.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894569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Route cable away from mains wiring.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7197082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Use 12-bit resolution (0.0625°C steps).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560"/>
                </a:solidFill>
              </a:rPr>
              <a:t>MAX6675  —  Flame Thermocouple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57432" cy="1905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32520" y="804672"/>
            <a:ext cx="3108960" cy="3108960"/>
          </a:xfrm>
          <a:prstGeom prst="rect">
            <a:avLst/>
          </a:prstGeom>
          <a:solidFill>
            <a:srgbClr val="0F3460"/>
          </a:solidFill>
          <a:ln w="12700">
            <a:solidFill>
              <a:srgbClr val="A8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21762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8DADC"/>
                </a:solidFill>
              </a:rPr>
              <a:t>MAX6675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4937760" cy="320421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877824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180337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Sensor type: K-type thermocouple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501901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Range: 0°C to +1023.75°C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23465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Resolution: 0.25°C (12-bit)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145029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Interface: SPI (read-only, 3-wire)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466593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Supply: 3.0V – 5.5V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788157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Cold-junction compensation: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109721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Open thermocouple detection (fault flag)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431285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Max SPI clock: 4.3 MHz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749808"/>
            <a:ext cx="3200400" cy="350672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3832" y="877824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Wiring to ESP32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2" y="1180337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VCC       →  3.3V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2" y="1501901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GND       →  GND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2" y="1823465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CS        →  GPIO5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2" y="2145029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SCK       →  GPIO18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2" y="2466593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SO (MISO) →  GPIO19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2" y="2788157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K-type thermocouple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2" y="3090670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Yellow (+)    →  T+ on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2" y="3412234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Red/White (–) →  T– on 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3832" y="3733798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Tip exposed to flame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84547"/>
            <a:ext cx="8229600" cy="331622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512563"/>
            <a:ext cx="79004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Role in this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796027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Measures flame / combustion temperature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098540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Flame detection: above ~100°C = flame 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401053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Used for: ignition confirmation,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703566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overheat protection, OLED readout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6006079"/>
            <a:ext cx="79004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289543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Dedicated SPI bus — no sharing.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6592056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Keep thermocouple wiring short and twisted.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6894569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Bit-15=0 signals open thermocouple fault.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7197082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Use K-type rated to at least 900°C.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560"/>
                </a:solidFill>
              </a:rPr>
              <a:t>5V Relay Modules  —  Feeder / Igniter / Pump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57432" cy="1905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804672"/>
            <a:ext cx="310896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749808"/>
            <a:ext cx="4937760" cy="256108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877824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180337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Coil voltage: 5V DC (logic-level trigger)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01901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Trigger: active LOW  (LOW = relay 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23465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Contact rating: 10A @ 250V 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45029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Isolation: optocoupler (ESP32 ↔ coil)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466593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Flyback diode: included on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788157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Indicator LED per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38906"/>
            <a:ext cx="2743200" cy="24277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566922"/>
            <a:ext cx="2414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Feeder Motor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850386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IN  →  GPIO25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152899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VCC →  5V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455412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GND →  GND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757925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COM →  AC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5060438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NO  →  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5362951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Pellet auger / conveyor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3438906"/>
            <a:ext cx="2743200" cy="24277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3552" y="3566922"/>
            <a:ext cx="2414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Igniter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3850386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IN  →  GPIO26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152899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VCC →  5V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4455412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GND →  GND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4757925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COM →  AC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5060438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NO  →  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5362951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Electric heating element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438906"/>
            <a:ext cx="2743200" cy="24277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3566922"/>
            <a:ext cx="2414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Water Pump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3850386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IN  →  GPIO27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4152899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VCC →  5V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4455412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GND →  GND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4757925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COM →  AC 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5060438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NO  →  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5362951"/>
            <a:ext cx="24140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Circulation pump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3438906"/>
            <a:ext cx="3108960" cy="240868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7112" y="3566922"/>
            <a:ext cx="27797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Active LOW wiring 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7112" y="3850386"/>
            <a:ext cx="27797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ESP32 GPIO init HIGH at boot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7112" y="4152899"/>
            <a:ext cx="27797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relay stays OFF during reset/startup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7112" y="4455412"/>
            <a:ext cx="27797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LOW = relay ON,  HIGH = relay 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7112" y="4757925"/>
            <a:ext cx="27797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Safety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97112" y="5041389"/>
            <a:ext cx="27797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All relays default OFF on power-up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7112" y="5343902"/>
            <a:ext cx="27797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Emergency stop: all GPIOs → 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560"/>
                </a:solidFill>
              </a:rPr>
              <a:t>TRIAC Dimmer  —  Blower Motor Speed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57432" cy="1905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32520" y="804672"/>
            <a:ext cx="3108960" cy="3474720"/>
          </a:xfrm>
          <a:prstGeom prst="rect">
            <a:avLst/>
          </a:prstGeom>
          <a:solidFill>
            <a:srgbClr val="0F3460"/>
          </a:solidFill>
          <a:ln w="12700">
            <a:solidFill>
              <a:srgbClr val="A8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23591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8DADC"/>
                </a:solidFill>
              </a:rPr>
              <a:t>TRIAC / AC Dimmer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49808"/>
            <a:ext cx="4937760" cy="482879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877824"/>
            <a:ext cx="46085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Method: Phase-angle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161288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The AC waveform is chopped each half-cycle.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463801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TRIAC fires later in the cycle → less power.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766314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Zero-cross detector tells ESP32 exactly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068827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the AC wave crosses 0V.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371340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ESP32 waits N µs, then pulses the TRIAC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673853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→ conducts for the rest of the half-cycle.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976366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Larger delay = lower fan speed.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278879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Delay = 0 = full power.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581392"/>
            <a:ext cx="46085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Typical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864856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BT136 or BTA16 TRIAC (TO-220)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67369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MOC3021 optocoupler (gate isolation)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469882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4N35 optocoupler (zero-cross isolation)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772395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Snubber: 100Ω + 100nF/400V across TRIAC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5074908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Gate resistor: 330Ω before MOC3021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749808"/>
            <a:ext cx="3200400" cy="450723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13832" y="877824"/>
            <a:ext cx="28712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Zero-cross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2" y="1161288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GPIO35  ←  Zero-cross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2" y="1463801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(GPIO35 is input-only on ESP32)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3832" y="1766314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Signal: HIGH normally, drops LOW 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832" y="2068827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each zero crossing of the AC wave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3832" y="2371340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Trigger ISR on falling 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3832" y="2673853"/>
            <a:ext cx="28712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TRIAC gate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13832" y="2957317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GPIO33  →  330Ω  →  MOC3021 LED(+)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3832" y="3259830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MOC3021 output  →  TRIAC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2" y="3562343"/>
            <a:ext cx="28712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Voltage levels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13832" y="3845807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ESP32 side: 3.3V logic (optocoupled)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3832" y="4148320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AC side: 230V AC — HIGH VOLTAGE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13832" y="4450833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Keep AC and DC wiring separated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4753346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Fuse the AC circuit (5–10A slow blow)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560"/>
                </a:solidFill>
              </a:rPr>
              <a:t>Physical Buttons  —  On/Off &amp; Emergency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57432" cy="1905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utt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804672"/>
            <a:ext cx="310896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749808"/>
            <a:ext cx="4937760" cy="414985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877824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Button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180337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Momentary normally-open (NO) push button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01901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Panel-mount, rated for frequent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23465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On/Off: latching toggle preferred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45029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E-Stop: momentary (NO)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466593"/>
            <a:ext cx="460857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Wiring  (active LOW, internal pull-up)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769106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One terminal  →  GPIO pin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090670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Other terminal  →  GND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412234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ESP32 internal pull-up enabled in firmware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733798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No external resistors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055362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Button pressed  →  GPIO reads 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376926"/>
            <a:ext cx="460857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Button released  →  GPIO reads 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749808"/>
            <a:ext cx="3200400" cy="331851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3832" y="877824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Button 1 — On / 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2" y="1180337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GPIO13  ←  button  ←  GND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2" y="1501901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Toggles Standby ↔ previous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2" y="1823465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(Automatic or Timer)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2" y="2278379"/>
            <a:ext cx="28712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Button 2 — Emergency 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2" y="2580892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GPIO14  ←  button  ←  GND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2" y="2902456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Immediate shutdown — ALL outputs 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3832" y="3224020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State machine → STANDBY instantly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832" y="3545584"/>
            <a:ext cx="287121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Does NOT write op_mode to NVS flash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27675"/>
            <a:ext cx="8229600" cy="152019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5155691"/>
            <a:ext cx="79004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DADC"/>
                </a:solidFill>
              </a:rPr>
              <a:t>Debounce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439155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Hardware: 100nF cap from GPIO pin to GND (optional).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741668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Software: ignore transitions for 50ms after first edge.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6044181"/>
            <a:ext cx="790041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E-Stop: no debounce delay — act on first LOW edge immediately.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560"/>
                </a:solidFill>
              </a:rPr>
              <a:t>Complete Wiring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57432" cy="1905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3749039" cy="286359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877824"/>
            <a:ext cx="3419855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I2C Bus  (GPIO21 SDA, GPIO22 SCL)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180337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SH1106 OLED  —  addr 0x3C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501901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VCC → 3.3V   GND → GND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23465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SDA → GPIO21   SCL → GPIO22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145029"/>
            <a:ext cx="3419855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OneWire Bus  (GPIO4)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447542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DS18B20 water temp 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769106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DATA → GPIO4  (4.7kΩ to 3.3V)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090670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VCC → 3.3V   GND → GND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749808"/>
            <a:ext cx="3749039" cy="318515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877824"/>
            <a:ext cx="3419855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SPI Bus  (dedicated)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180337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MAX6675 thermocouple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1501901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CS   → GPIO5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1823465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SCK  → GPIO18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145029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MISO → GPIO19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466593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VCC  → 3.3V   GND → GND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788157"/>
            <a:ext cx="3419855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Zero-cross 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3090670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Signal → GPIO35 (input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412234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3.3V logic, falling edge ISR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749808"/>
            <a:ext cx="3840480" cy="2542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877824"/>
            <a:ext cx="351129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Relay outputs  (active LOW)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1180337"/>
            <a:ext cx="351129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GPIO25 → Relay IN — Feeder motor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1501901"/>
            <a:ext cx="351129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GPIO26 → Relay IN — Igniter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1823465"/>
            <a:ext cx="351129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GPIO27 → Relay IN — Pump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145029"/>
            <a:ext cx="351129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Relay VCC → 5V   GND → GND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2466593"/>
            <a:ext cx="351129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TRIAC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2769106"/>
            <a:ext cx="351129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GPIO33 → 330Ω → MOC3021 → TRIAC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62983"/>
            <a:ext cx="3749039" cy="127482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4190999"/>
            <a:ext cx="3419855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Buttons  (active LOW, internal pull-up)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493512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GPIO13 ← On/Off button ← GND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815076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GPIO14 ← Emergency Stop button ← GND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4062983"/>
            <a:ext cx="3749039" cy="159639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5112" y="4190999"/>
            <a:ext cx="3419855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Power rails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4493512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3.3V: ESP32 reg, OLED, DS18B20, MAX6675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5112" y="4815076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5V: Relay module VCC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5112" y="5136640"/>
            <a:ext cx="3419855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AC 230V: TRIAC load side — isolated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4062983"/>
            <a:ext cx="3840480" cy="159639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1312" y="4190999"/>
            <a:ext cx="3511296" cy="30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DADC"/>
                </a:solidFill>
              </a:rPr>
              <a:t>Safety reminders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4493512"/>
            <a:ext cx="351129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Never connect 5V to ESP32 3.3V rail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4815076"/>
            <a:ext cx="351129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Optocouplers required on TRIAC side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5136640"/>
            <a:ext cx="3511296" cy="32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Fuse the AC circuit (5–10A slow blow)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560"/>
                </a:solidFill>
              </a:rPr>
              <a:t>Pin Reference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57432" cy="1905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04672"/>
          <a:ext cx="11640311" cy="589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6481"/>
                <a:gridCol w="1164031"/>
                <a:gridCol w="1164031"/>
                <a:gridCol w="1047628"/>
                <a:gridCol w="523814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E945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GPIO</a:t>
                      </a:r>
                    </a:p>
                  </a:txBody>
                  <a:tcPr>
                    <a:solidFill>
                      <a:srgbClr val="E945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E945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Voltage</a:t>
                      </a:r>
                    </a:p>
                  </a:txBody>
                  <a:tcPr>
                    <a:solidFill>
                      <a:srgbClr val="E945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E945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SH1106 OLED — SDA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GPIO21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I2C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I2C address 0x3C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SH1106 OLED — SCL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GPIO22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I2C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400 kHz fast-mode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DS18B20 DATA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GPIO4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1-Wire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4.7 kΩ pull-up to 3.3 V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MAX6675 CS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GPIO5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SPI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dedicated SPI bus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MAX6675 SCK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GPIO18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SPI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max 4.3 MHz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MAX6675 MISO (SO)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GPIO19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SPI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read-only from module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Relay — Feeder IN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GPIO25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GPIO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active LOW, relay VCC = 5 V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Relay — Igniter IN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GPIO26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GPIO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active LOW, relay VCC = 5 V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Relay — Pump IN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GPIO27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GPIO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active LOW, relay VCC = 5 V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TRIAC gate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GPIO33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GPIO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330 Ω → MOC3021 → TRIAC gate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Zero-cross detect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GPIO35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GPIO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input-only pin, falling edge ISR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Button — On/Off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GPIO13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GPIO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internal pull-up, active LOW</a:t>
                      </a:r>
                    </a:p>
                  </a:txBody>
                  <a:tcPr>
                    <a:solidFill>
                      <a:srgbClr val="16213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Button — E-Stop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8DADC"/>
                          </a:solidFill>
                        </a:rPr>
                        <a:t>GPIO14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GPIO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 V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AAAAAA"/>
                          </a:solidFill>
                        </a:rPr>
                        <a:t>internal pull-up, active LOW</a:t>
                      </a:r>
                    </a:p>
                  </a:txBody>
                  <a:tcPr>
                    <a:solidFill>
                      <a:srgbClr val="0F346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